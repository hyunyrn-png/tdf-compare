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TDF 비교 서비스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563EB"/>
                </a:solidFill>
                <a:latin typeface="Arial"/>
              </a:defRPr>
            </a:pPr>
            <a:r>
              <a:t>화면 기획서 v1.0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566160"/>
            <a:ext cx="21332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93192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Arial"/>
              </a:defRPr>
            </a:pPr>
            <a:r>
              <a:t>Target Date Fund 비교 서비스</a:t>
            </a:r>
            <a:br/>
            <a:r>
              <a:t>사용자가 빈티지별 TDF 상품을 비교하고</a:t>
            </a:r>
            <a:br/>
            <a:r>
              <a:t>최적의 상품을 선택할 수 있도록 돕는 웹 서비스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66928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Arial"/>
              </a:defRPr>
            </a:pPr>
            <a:r>
              <a:t>2026.03.15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서비스 개요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73152" cy="2011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7451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  <a:latin typeface="Arial"/>
              </a:defRPr>
            </a:pPr>
            <a:r>
              <a:t>서비스 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Arial"/>
              </a:defRPr>
            </a:pPr>
            <a:r>
              <a:t>TDF(타겟데이트펀드) 상품 선택이 어려운 사용자를 위해</a:t>
            </a:r>
            <a:br/>
            <a:r>
              <a:t>빈티지별 상품 비교, BEST 추천, 위험 지표 분석을</a:t>
            </a:r>
            <a:br/>
            <a:r>
              <a:t>한눈에 제공하는 비교 서비스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645920"/>
            <a:ext cx="5029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59" y="1645920"/>
            <a:ext cx="73152" cy="2011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87451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  <a:latin typeface="Arial"/>
              </a:defRPr>
            </a:pPr>
            <a:r>
              <a:t>대상 사용자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37744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Arial"/>
              </a:defRPr>
            </a:pPr>
            <a:r>
              <a:t>연금저축, 퇴직연금, 일반 투자 목적으로</a:t>
            </a:r>
            <a:br/>
            <a:r>
              <a:t>TDF 상품을 선택하려는 투자자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5029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023360"/>
            <a:ext cx="73152" cy="2011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2519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  <a:latin typeface="Arial"/>
              </a:defRPr>
            </a:pPr>
            <a:r>
              <a:t>핵심 기능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75488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Arial"/>
              </a:defRPr>
            </a:pPr>
            <a:r>
              <a:t>빈티지별 상품 목록 / BEST 추천 / 상품 상세 비교</a:t>
            </a:r>
            <a:br/>
            <a:r>
              <a:t>카드/리스트 뷰 전환 / 용도별 필터 / 조회 통계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4023360"/>
            <a:ext cx="5029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59" y="4023360"/>
            <a:ext cx="73152" cy="2011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2519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  <a:latin typeface="Arial"/>
              </a:defRPr>
            </a:pPr>
            <a:r>
              <a:t>지원 환경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75488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Arial"/>
              </a:defRPr>
            </a:pPr>
            <a:r>
              <a:t>반응형 웹 (모바일 + PC)</a:t>
            </a:r>
            <a:br/>
            <a:r>
              <a:t>HTML/CSS/JavaScript SPA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화면 구성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560320" cy="3200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SCREEN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메인 화면</a:t>
            </a:r>
            <a:br/>
            <a:r>
              <a:t>(빈티지 선택)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32004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2103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SCREEN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65176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빈티지 상세</a:t>
            </a:r>
            <a:br/>
            <a:r>
              <a:t>(카드/리스트)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645920"/>
            <a:ext cx="2560320" cy="32004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59" y="2103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SCREEN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265176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상품 상세</a:t>
            </a:r>
            <a:br/>
            <a:r>
              <a:t>(모달)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19" y="1645920"/>
            <a:ext cx="2560320" cy="32004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19" y="2103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SCREEN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19" y="265176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조회 통계</a:t>
            </a:r>
            <a:br/>
            <a:r>
              <a:t>(대시보드)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03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B5563"/>
                </a:solidFill>
                <a:latin typeface="Arial"/>
              </a:defRPr>
            </a:pPr>
            <a:r>
              <a:t>사용자 플로우: 메인 → 빈티지 선택 → 상품 카드/리스트 탐색 → 상품 상세 확인 → 통계 페이지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Arial"/>
              </a:defRPr>
            </a:pPr>
            <a:r>
              <a:t>하단 네비게이션: 홈 / 통계 (2개 탭)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SCREEN 1 — 메인 화면 (빈티지 선택)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0292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029200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TDF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FDBFE"/>
                </a:solidFill>
                <a:latin typeface="Arial"/>
              </a:defRPr>
            </a:pPr>
            <a:r>
              <a:t>나에게 맞는 TDF 상품을 찾아보세요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  <a:latin typeface="Arial"/>
              </a:defRPr>
            </a:pPr>
            <a:r>
              <a:t>은퇴 목표 시점을 선택하세요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017520"/>
            <a:ext cx="9601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Arial"/>
              </a:defRPr>
            </a:pPr>
            <a:r>
              <a:t>2015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3279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CA3AF"/>
                </a:solidFill>
                <a:latin typeface="Arial"/>
              </a:defRPr>
            </a:pPr>
            <a:r>
              <a:t>N개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3017520"/>
            <a:ext cx="9601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310896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Arial"/>
              </a:defRPr>
            </a:pPr>
            <a:r>
              <a:t>2020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383279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CA3AF"/>
                </a:solidFill>
                <a:latin typeface="Arial"/>
              </a:defRPr>
            </a:pPr>
            <a:r>
              <a:t>N개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0" y="3017520"/>
            <a:ext cx="9601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310896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Arial"/>
              </a:defRPr>
            </a:pPr>
            <a:r>
              <a:t>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83279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CA3AF"/>
                </a:solidFill>
                <a:latin typeface="Arial"/>
              </a:defRPr>
            </a:pPr>
            <a:r>
              <a:t>N개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3017520"/>
            <a:ext cx="9601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310896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Arial"/>
              </a:defRPr>
            </a:pPr>
            <a:r>
              <a:t>2030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383279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CA3AF"/>
                </a:solidFill>
                <a:latin typeface="Arial"/>
              </a:defRPr>
            </a:pPr>
            <a:r>
              <a:t>N개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794759"/>
            <a:ext cx="9601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886199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Arial"/>
              </a:defRPr>
            </a:pPr>
            <a:r>
              <a:t>2035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160520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CA3AF"/>
                </a:solidFill>
                <a:latin typeface="Arial"/>
              </a:defRPr>
            </a:pPr>
            <a:r>
              <a:t>N개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0" y="3794759"/>
            <a:ext cx="9601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11680" y="3886199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Arial"/>
              </a:defRPr>
            </a:pPr>
            <a:r>
              <a:t>2040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4160520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CA3AF"/>
                </a:solidFill>
                <a:latin typeface="Arial"/>
              </a:defRPr>
            </a:pPr>
            <a:r>
              <a:t>N개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08960" y="3794759"/>
            <a:ext cx="9601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08960" y="3886199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Arial"/>
              </a:defRPr>
            </a:pPr>
            <a:r>
              <a:t>2045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4160520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CA3AF"/>
                </a:solidFill>
                <a:latin typeface="Arial"/>
              </a:defRPr>
            </a:pPr>
            <a:r>
              <a:t>N개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06240" y="3794759"/>
            <a:ext cx="9601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0" y="3886199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Arial"/>
              </a:defRPr>
            </a:pPr>
            <a:r>
              <a:t>2050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4160520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CA3AF"/>
                </a:solidFill>
                <a:latin typeface="Arial"/>
              </a:defRPr>
            </a:pPr>
            <a:r>
              <a:t>N개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4572000"/>
            <a:ext cx="9601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66344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Arial"/>
              </a:defRPr>
            </a:pPr>
            <a:r>
              <a:t>2055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937760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CA3AF"/>
                </a:solidFill>
                <a:latin typeface="Arial"/>
              </a:defRPr>
            </a:pPr>
            <a:r>
              <a:t>N개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011680" y="4572000"/>
            <a:ext cx="9601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11680" y="466344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Arial"/>
              </a:defRPr>
            </a:pPr>
            <a:r>
              <a:t>2060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1680" y="4937760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CA3AF"/>
                </a:solidFill>
                <a:latin typeface="Arial"/>
              </a:defRPr>
            </a:pPr>
            <a:r>
              <a:t>N개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108960" y="4572000"/>
            <a:ext cx="9601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08960" y="466344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Arial"/>
              </a:defRPr>
            </a:pPr>
            <a:r>
              <a:t>2065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960" y="4937760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CA3AF"/>
                </a:solidFill>
                <a:latin typeface="Arial"/>
              </a:defRPr>
            </a:pPr>
            <a:r>
              <a:t>N개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" y="5394960"/>
            <a:ext cx="41148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7280" y="548640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Arial"/>
              </a:defRPr>
            </a:pPr>
            <a:r>
              <a:t>TDF란? TDF는 은퇴 목표 시점에 맞춰...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6126480"/>
            <a:ext cx="50292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71600" y="6126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rial"/>
              </a:defRPr>
            </a:pPr>
            <a:r>
              <a:t>🏠 홈        📊 통계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1463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AF"/>
                </a:solidFill>
                <a:latin typeface="Arial"/>
              </a:defRPr>
            </a:pPr>
            <a:r>
              <a:t>① 헤더 영역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1783080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rial"/>
              </a:defRPr>
            </a:pPr>
            <a:r>
              <a:t>서비스 타이틀 "TDF 비교"와</a:t>
            </a:r>
            <a:br/>
            <a:r>
              <a:t>서브타이틀 표시. 파란색 그라데이션 배경.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2697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AF"/>
                </a:solidFill>
                <a:latin typeface="Arial"/>
              </a:defRPr>
            </a:pPr>
            <a:r>
              <a:t>② 빈티지 선택 그리드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3017520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rial"/>
              </a:defRPr>
            </a:pPr>
            <a:r>
              <a:t>2015~2065까지 11개 빈티지를 카드 형태로 표시.</a:t>
            </a:r>
            <a:br/>
            <a:r>
              <a:t>각 카드에 해당 빈티지의 상품 수 표시.</a:t>
            </a:r>
            <a:br/>
            <a:r>
              <a:t>클릭 시 빈티지 상세 화면으로 이동.</a:t>
            </a:r>
            <a:br/>
            <a:r>
              <a:t>반응형: 모바일 2열, 태블릿 3열, PC 4열 이상.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3931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AF"/>
                </a:solidFill>
                <a:latin typeface="Arial"/>
              </a:defRPr>
            </a:pPr>
            <a:r>
              <a:t>③ TDF 안내 박스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4251960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rial"/>
              </a:defRPr>
            </a:pPr>
            <a:r>
              <a:t>TDF(Target Date Fund)에 대한</a:t>
            </a:r>
            <a:br/>
            <a:r>
              <a:t>간단한 설명을 제공하여 초보 사용자 이해를 돕습니다.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0" y="5166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AF"/>
                </a:solidFill>
                <a:latin typeface="Arial"/>
              </a:defRPr>
            </a:pPr>
            <a:r>
              <a:t>④ 하단 네비게이션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35040" y="5486400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rial"/>
              </a:defRPr>
            </a:pPr>
            <a:r>
              <a:t>홈 / 통계 2개 탭 구성.</a:t>
            </a:r>
            <a:br/>
            <a:r>
              <a:t>현재 활성 탭은 파란색으로 표시.</a:t>
            </a:r>
            <a:br/>
            <a:r>
              <a:t>iOS safe-area 대응.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SCREEN 2 — 빈티지 상세 (카드 뷰)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0292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02920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← 뒤로   TDF 2030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86000"/>
            <a:ext cx="685800" cy="274320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0428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B5563"/>
                </a:solidFill>
                <a:latin typeface="Arial"/>
              </a:defRPr>
            </a:pPr>
            <a:r>
              <a:t>2025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37360" y="2286000"/>
            <a:ext cx="68580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230428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2030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2286000"/>
            <a:ext cx="685800" cy="274320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230428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B5563"/>
                </a:solidFill>
                <a:latin typeface="Arial"/>
              </a:defRPr>
            </a:pPr>
            <a:r>
              <a:t>2035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286000"/>
            <a:ext cx="685800" cy="274320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230428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B5563"/>
                </a:solidFill>
                <a:latin typeface="Arial"/>
              </a:defRPr>
            </a:pPr>
            <a:r>
              <a:t>2040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2286000"/>
            <a:ext cx="685800" cy="274320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230428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B5563"/>
                </a:solidFill>
                <a:latin typeface="Arial"/>
              </a:defRPr>
            </a:pPr>
            <a:r>
              <a:t>2045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2651760"/>
            <a:ext cx="8686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660904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전체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20240" y="2651760"/>
            <a:ext cx="868680" cy="256032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2660904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4B5563"/>
                </a:solidFill>
                <a:latin typeface="Arial"/>
              </a:defRPr>
            </a:pPr>
            <a:r>
              <a:t>일반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80" y="2651760"/>
            <a:ext cx="868680" cy="256032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0" y="2660904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4B5563"/>
                </a:solidFill>
                <a:latin typeface="Arial"/>
              </a:defRPr>
            </a:pPr>
            <a:r>
              <a:t>연금저축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31920" y="2651760"/>
            <a:ext cx="868680" cy="256032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0" y="2660904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4B5563"/>
                </a:solidFill>
                <a:latin typeface="Arial"/>
              </a:defRPr>
            </a:pPr>
            <a:r>
              <a:t>퇴직연금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3017520"/>
            <a:ext cx="4114800" cy="128016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5840" y="3108960"/>
            <a:ext cx="548640" cy="20116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310896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rial"/>
              </a:defRPr>
            </a:pPr>
            <a:r>
              <a:t>BEST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3375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2937"/>
                </a:solidFill>
                <a:latin typeface="Arial"/>
              </a:defRPr>
            </a:pPr>
            <a:r>
              <a:t>NH-Amundi하나로TDF2030...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356616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Arial"/>
              </a:defRPr>
            </a:pPr>
            <a:r>
              <a:t>수익률 | TER | MDD | 추천이유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434840"/>
            <a:ext cx="12801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5262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F2937"/>
                </a:solidFill>
                <a:latin typeface="Arial"/>
              </a:defRPr>
            </a:pPr>
            <a:r>
              <a:t>상품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754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6B7280"/>
                </a:solidFill>
                <a:latin typeface="Arial"/>
              </a:defRPr>
            </a:pPr>
            <a:r>
              <a:t>수익률 | TER | MDD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4864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CA3AF"/>
                </a:solidFill>
                <a:latin typeface="Arial"/>
              </a:defRPr>
            </a:pPr>
            <a:r>
              <a:t>운용사 · 클래스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31720" y="4434840"/>
            <a:ext cx="12801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23160" y="45262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F2937"/>
                </a:solidFill>
                <a:latin typeface="Arial"/>
              </a:defRPr>
            </a:pPr>
            <a:r>
              <a:t>상품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23160" y="4754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6B7280"/>
                </a:solidFill>
                <a:latin typeface="Arial"/>
              </a:defRPr>
            </a:pPr>
            <a:r>
              <a:t>수익률 | TER | MDD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23160" y="54864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CA3AF"/>
                </a:solidFill>
                <a:latin typeface="Arial"/>
              </a:defRPr>
            </a:pPr>
            <a:r>
              <a:t>운용사 · 클래스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749039" y="4434840"/>
            <a:ext cx="12801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79" y="45262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F2937"/>
                </a:solidFill>
                <a:latin typeface="Arial"/>
              </a:defRPr>
            </a:pPr>
            <a:r>
              <a:t>상품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79" y="4754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6B7280"/>
                </a:solidFill>
                <a:latin typeface="Arial"/>
              </a:defRPr>
            </a:pPr>
            <a:r>
              <a:t>수익률 | TER | MDD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79" y="54864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CA3AF"/>
                </a:solidFill>
                <a:latin typeface="Arial"/>
              </a:defRPr>
            </a:pPr>
            <a:r>
              <a:t>운용사 · 클래스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6126480"/>
            <a:ext cx="50292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5040" y="1463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AF"/>
                </a:solidFill>
                <a:latin typeface="Arial"/>
              </a:defRPr>
            </a:pPr>
            <a:r>
              <a:t>① 헤더 + 뒤로가기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1719072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Arial"/>
              </a:defRPr>
            </a:pPr>
            <a:r>
              <a:t>선택한 빈티지(예: TDF 2030) 표시.</a:t>
            </a:r>
            <a:br/>
            <a:r>
              <a:t>← 뒤로 버튼으로 메인 화면 복귀.</a:t>
            </a:r>
            <a:br/>
            <a:r>
              <a:t>총 상품 수 표시.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AF"/>
                </a:solidFill>
                <a:latin typeface="Arial"/>
              </a:defRPr>
            </a:pPr>
            <a:r>
              <a:t>② 빈티지 가로 스크롤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2587752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Arial"/>
              </a:defRPr>
            </a:pPr>
            <a:r>
              <a:t>2015~2065 빈티지 칩을 가로 스크롤로 표시.</a:t>
            </a:r>
            <a:br/>
            <a:r>
              <a:t>다른 빈티지 클릭 시 즉시 전환.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3200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AF"/>
                </a:solidFill>
                <a:latin typeface="Arial"/>
              </a:defRPr>
            </a:pPr>
            <a:r>
              <a:t>③ 용도별 필터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3456432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Arial"/>
              </a:defRPr>
            </a:pPr>
            <a:r>
              <a:t>전체 / 일반 / 연금저축 / 퇴직연금</a:t>
            </a:r>
            <a:br/>
            <a:r>
              <a:t>4개 필터. 각 필터에 상품 수 표시.</a:t>
            </a:r>
            <a:br/>
            <a:r>
              <a:t>클래스명 기반 자동 분류.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406907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AF"/>
                </a:solidFill>
                <a:latin typeface="Arial"/>
              </a:defRPr>
            </a:pPr>
            <a:r>
              <a:t>④ 정렬 + 뷰 전환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4325112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Arial"/>
              </a:defRPr>
            </a:pPr>
            <a:r>
              <a:t>정렬: 1년/3년/5년 수익률, 보수 낮은순, 샤프비율, MDD</a:t>
            </a:r>
            <a:br/>
            <a:r>
              <a:t>뷰 전환: 카드 ↔ 리스트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4937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AF"/>
                </a:solidFill>
                <a:latin typeface="Arial"/>
              </a:defRPr>
            </a:pPr>
            <a:r>
              <a:t>⑤ BEST 추천 카드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0" y="5193792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Arial"/>
              </a:defRPr>
            </a:pPr>
            <a:r>
              <a:t>금색 테두리의 추천 상품 카드.</a:t>
            </a:r>
            <a:br/>
            <a:r>
              <a:t>한줄설명 → 100만원 시뮬레이션 → 수익률 → TER/샤프/MDD</a:t>
            </a:r>
            <a:br/>
            <a:r>
              <a:t>추천 이유 표시.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35040" y="5806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AF"/>
                </a:solidFill>
                <a:latin typeface="Arial"/>
              </a:defRPr>
            </a:pPr>
            <a:r>
              <a:t>⑥ 상품 카드 그리드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35040" y="6062472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Arial"/>
              </a:defRPr>
            </a:pPr>
            <a:r>
              <a:t>순위 번호, ETF/펀드 구분 뱃지, 상품명</a:t>
            </a:r>
            <a:br/>
            <a:r>
              <a:t>한줄설명, 100만원 시뮬레이션</a:t>
            </a:r>
            <a:br/>
            <a:r>
              <a:t>1년 수익률, TER, MDD 핵심 3지표</a:t>
            </a:r>
            <a:br/>
            <a:r>
              <a:t>운용사/클래스/용도 표시.</a:t>
            </a:r>
            <a:br/>
            <a:r>
              <a:t>클릭 시 상품 상세 모달 오픈.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SCREEN 2-B — 빈티지 상세 (리스트 뷰)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0292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02920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TDF 2030 — 리스트 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194560"/>
            <a:ext cx="4114800" cy="5029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" y="2286000"/>
            <a:ext cx="457200" cy="1828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rial"/>
              </a:defRPr>
            </a:pPr>
            <a:r>
              <a:t>BEST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286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F2937"/>
                </a:solidFill>
                <a:latin typeface="Arial"/>
              </a:defRPr>
            </a:pPr>
            <a:r>
              <a:t>NH-Amundi... +14.31%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83464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8803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B7280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25880" y="2926080"/>
            <a:ext cx="365760" cy="1828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292608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374151"/>
                </a:solidFill>
                <a:latin typeface="Arial"/>
              </a:defRPr>
            </a:pPr>
            <a:r>
              <a:t>펀드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288036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F2937"/>
                </a:solidFill>
                <a:latin typeface="Arial"/>
              </a:defRPr>
            </a:pPr>
            <a:r>
              <a:t>상품명 1...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306324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CA3AF"/>
                </a:solidFill>
                <a:latin typeface="Arial"/>
              </a:defRPr>
            </a:pPr>
            <a:r>
              <a:t>운용사 · 클래스 · 용도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8803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0B981"/>
                </a:solidFill>
                <a:latin typeface="Arial"/>
              </a:defRPr>
            </a:pPr>
            <a:r>
              <a:t>+XX.XX%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33756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3832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B728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25880" y="3429000"/>
            <a:ext cx="365760" cy="1828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342900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374151"/>
                </a:solidFill>
                <a:latin typeface="Arial"/>
              </a:defRPr>
            </a:pPr>
            <a:r>
              <a:t>펀드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338328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F2937"/>
                </a:solidFill>
                <a:latin typeface="Arial"/>
              </a:defRPr>
            </a:pPr>
            <a:r>
              <a:t>상품명 2...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356616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CA3AF"/>
                </a:solidFill>
                <a:latin typeface="Arial"/>
              </a:defRPr>
            </a:pPr>
            <a:r>
              <a:t>운용사 · 클래스 · 용도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3832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0B981"/>
                </a:solidFill>
                <a:latin typeface="Arial"/>
              </a:defRPr>
            </a:pPr>
            <a:r>
              <a:t>+XX.XX%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384048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8862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B728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25880" y="3931920"/>
            <a:ext cx="365760" cy="18288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25880" y="39319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374151"/>
                </a:solidFill>
                <a:latin typeface="Arial"/>
              </a:defRPr>
            </a:pPr>
            <a:r>
              <a:t>ETF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3080" y="388620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F2937"/>
                </a:solidFill>
                <a:latin typeface="Arial"/>
              </a:defRPr>
            </a:pPr>
            <a:r>
              <a:t>상품명 3...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406908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CA3AF"/>
                </a:solidFill>
                <a:latin typeface="Arial"/>
              </a:defRPr>
            </a:pPr>
            <a:r>
              <a:t>운용사 · 클래스 · 용도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38862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0B981"/>
                </a:solidFill>
                <a:latin typeface="Arial"/>
              </a:defRPr>
            </a:pPr>
            <a:r>
              <a:t>+XX.XX%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434340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43891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B728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25880" y="4434840"/>
            <a:ext cx="365760" cy="1828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25880" y="44348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374151"/>
                </a:solidFill>
                <a:latin typeface="Arial"/>
              </a:defRPr>
            </a:pPr>
            <a:r>
              <a:t>펀드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83080" y="438912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F2937"/>
                </a:solidFill>
                <a:latin typeface="Arial"/>
              </a:defRPr>
            </a:pPr>
            <a:r>
              <a:t>상품명 4...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83080" y="457200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CA3AF"/>
                </a:solidFill>
                <a:latin typeface="Arial"/>
              </a:defRPr>
            </a:pPr>
            <a:r>
              <a:t>운용사 · 클래스 · 용도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43891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0B981"/>
                </a:solidFill>
                <a:latin typeface="Arial"/>
              </a:defRPr>
            </a:pPr>
            <a:r>
              <a:t>+XX.XX%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484632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48920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B7280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325880" y="4937760"/>
            <a:ext cx="365760" cy="1828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25880" y="493776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374151"/>
                </a:solidFill>
                <a:latin typeface="Arial"/>
              </a:defRPr>
            </a:pPr>
            <a:r>
              <a:t>펀드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83080" y="489204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F2937"/>
                </a:solidFill>
                <a:latin typeface="Arial"/>
              </a:defRPr>
            </a:pPr>
            <a:r>
              <a:t>상품명 5...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83080" y="507492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CA3AF"/>
                </a:solidFill>
                <a:latin typeface="Arial"/>
              </a:defRPr>
            </a:pPr>
            <a:r>
              <a:t>운용사 · 클래스 · 용도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0" y="4892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0B981"/>
                </a:solidFill>
                <a:latin typeface="Arial"/>
              </a:defRPr>
            </a:pPr>
            <a:r>
              <a:t>+XX.XX%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534924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539495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B7280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325880" y="5440679"/>
            <a:ext cx="365760" cy="1828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25880" y="5440679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374151"/>
                </a:solidFill>
                <a:latin typeface="Arial"/>
              </a:defRPr>
            </a:pPr>
            <a:r>
              <a:t>펀드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783080" y="5394959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F2937"/>
                </a:solidFill>
                <a:latin typeface="Arial"/>
              </a:defRPr>
            </a:pPr>
            <a:r>
              <a:t>상품명 6...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83080" y="557784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CA3AF"/>
                </a:solidFill>
                <a:latin typeface="Arial"/>
              </a:defRPr>
            </a:pPr>
            <a:r>
              <a:t>운용사 · 클래스 · 용도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0" y="5394959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0B981"/>
                </a:solidFill>
                <a:latin typeface="Arial"/>
              </a:defRPr>
            </a:pPr>
            <a:r>
              <a:t>+XX.XX%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6126480"/>
            <a:ext cx="50292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0" y="1463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Arial"/>
              </a:defRPr>
            </a:pPr>
            <a:r>
              <a:t>리스트 뷰 특징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35040" y="1755648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rial"/>
              </a:defRPr>
            </a:pPr>
            <a:r>
              <a:t>카드 뷰와 동일한 필터/정렬 기능을 유지하면서</a:t>
            </a:r>
            <a:br/>
            <a:r>
              <a:t>더 많은 상품을 한 화면에 표시할 수 있는 뷰입니다.</a:t>
            </a:r>
            <a:br/>
            <a:r>
              <a:t>모바일 환경에서 특히 효율적입니다.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35040" y="2468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Arial"/>
              </a:defRPr>
            </a:pPr>
            <a:r>
              <a:t>BEST 컴팩트 표시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35040" y="2761488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rial"/>
              </a:defRPr>
            </a:pPr>
            <a:r>
              <a:t>BEST 추천 상품을 1줄 형태로 압축 표시.</a:t>
            </a:r>
            <a:br/>
            <a:r>
              <a:t>상품명, 운용사, 핵심 수익률만 표시.</a:t>
            </a:r>
            <a:br/>
            <a:r>
              <a:t>클릭 시 상품 상세 모달 오픈.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35040" y="3474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Arial"/>
              </a:defRPr>
            </a:pPr>
            <a:r>
              <a:t>리스트 아이템 구성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35040" y="3767328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rial"/>
              </a:defRPr>
            </a:pPr>
            <a:r>
              <a:t>순위 번호 | ETF/펀드 뱃지 | 상품명</a:t>
            </a:r>
            <a:br/>
            <a:r>
              <a:t>운용사 · 클래스 · 용도</a:t>
            </a:r>
            <a:br/>
            <a:r>
              <a:t>현재 정렬 기준의 수치 (오른쪽 정렬)</a:t>
            </a:r>
            <a:br/>
            <a:r>
              <a:t>호버 시 배경색 변경으로 인터랙션 피드백.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35040" y="4480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Arial"/>
              </a:defRPr>
            </a:pPr>
            <a:r>
              <a:t>정렬 기준 연동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35040" y="4773168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rial"/>
              </a:defRPr>
            </a:pPr>
            <a:r>
              <a:t>정렬 선택에 따라 오른쪽에 표시되는 값이 변경됩니다.</a:t>
            </a:r>
            <a:br/>
            <a:r>
              <a:t>예: "1년 수익률순" → 1년 수익률 표시</a:t>
            </a:r>
            <a:br/>
            <a:r>
              <a:t>"보수 낮은순" → TER 표시</a:t>
            </a:r>
            <a:br/>
            <a:r>
              <a:t>"MDD 낮은순" → MDD 표시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35040" y="5486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Arial"/>
              </a:defRPr>
            </a:pPr>
            <a:r>
              <a:t>페이지네이션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35040" y="5779008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Arial"/>
              </a:defRPr>
            </a:pPr>
            <a:r>
              <a:t>12개씩 페이지 분할.</a:t>
            </a:r>
            <a:br/>
            <a:r>
              <a:t>페이지 번호 버튼으로 이동.</a:t>
            </a:r>
            <a:br/>
            <a:r>
              <a:t>전체 상품을 효율적으로 탐색.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SCREEN 3 — 상품 상세 (모달)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0292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029200" cy="73152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rial"/>
              </a:defRPr>
            </a:pPr>
            <a:r>
              <a:t>(오버레이 배경)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286000"/>
            <a:ext cx="393192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651760" y="2377440"/>
            <a:ext cx="640080" cy="54864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71600" y="2560320"/>
            <a:ext cx="457200" cy="20116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5603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C3AED"/>
                </a:solidFill>
                <a:latin typeface="Arial"/>
              </a:defRPr>
            </a:pPr>
            <a:r>
              <a:t>펀드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2560320"/>
            <a:ext cx="548640" cy="201168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256032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2563EB"/>
                </a:solidFill>
                <a:latin typeface="Arial"/>
              </a:defRPr>
            </a:pPr>
            <a:r>
              <a:t>퇴직연금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834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  <a:latin typeface="Arial"/>
              </a:defRPr>
            </a:pPr>
            <a:r>
              <a:t>상품명 (Full Name)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06324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Arial"/>
              </a:defRPr>
            </a:pPr>
            <a:r>
              <a:t>운용사 · 클래스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3375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Arial"/>
              </a:defRPr>
            </a:pPr>
            <a:r>
              <a:t>▸ 한줄설명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7216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Arial"/>
              </a:defRPr>
            </a:pPr>
            <a:r>
              <a:t>▸ 100만원 투자 시뮬레이션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10565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Arial"/>
              </a:defRPr>
            </a:pPr>
            <a:r>
              <a:t>▸ 수익률 (6개월/1년/3년/5년/설정이후)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48970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Arial"/>
              </a:defRPr>
            </a:pPr>
            <a:r>
              <a:t>▸ 비용 (총보수, TER)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8737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Arial"/>
              </a:defRPr>
            </a:pPr>
            <a:r>
              <a:t>▸ 위험지표 (샤프/소르티노/변동성/MDD/회복기간)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2578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Arial"/>
              </a:defRPr>
            </a:pPr>
            <a:r>
              <a:t>▸ 자산배분 (주식/채권/기타 비율 바)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64184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Arial"/>
              </a:defRPr>
            </a:pPr>
            <a:r>
              <a:t>▸ 기타정보 (설정일/설정액/환매조건)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1463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Arial"/>
              </a:defRPr>
            </a:pPr>
            <a:r>
              <a:t>모달 형태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1755648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Arial"/>
              </a:defRPr>
            </a:pPr>
            <a:r>
              <a:t>상품 카드/리스트 클릭 시 하단에서 슬라이드업 모달로 표시.</a:t>
            </a:r>
            <a:br/>
            <a:r>
              <a:t>PC: 화면 중앙 정렬 (max-width: 640px)</a:t>
            </a:r>
            <a:br/>
            <a:r>
              <a:t>모바일: 하단 시트 형태 (85vh 높이)</a:t>
            </a:r>
            <a:br/>
            <a:r>
              <a:t>ESC 키 또는 배경 클릭으로 닫기.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2788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Arial"/>
              </a:defRPr>
            </a:pPr>
            <a:r>
              <a:t>정보 표시 순서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3081527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Arial"/>
              </a:defRPr>
            </a:pPr>
            <a:r>
              <a:t>① 상품 유형 뱃지 (ETF/펀드) + 용도 뱃지 (일반/연금저축/퇴직연금)</a:t>
            </a:r>
            <a:br/>
            <a:r>
              <a:t>② 상품명 (풀네임)</a:t>
            </a:r>
            <a:br/>
            <a:r>
              <a:t>③ 운용사 · 클래스</a:t>
            </a:r>
            <a:br/>
            <a:r>
              <a:t>④ 한줄 설명</a:t>
            </a:r>
            <a:br/>
            <a:r>
              <a:t>⑤ 100만원 투자 시뮬레이션 (파란 배경 강조)</a:t>
            </a:r>
            <a:br/>
            <a:r>
              <a:t>⑥ 수익률 (6개월, 1년, 3년, 5년, 설정이후) - 3열 그리드</a:t>
            </a:r>
            <a:br/>
            <a:r>
              <a:t>⑦ 비용 (총보수, 합성총보수 TER) - 2열 그리드</a:t>
            </a:r>
            <a:br/>
            <a:r>
              <a:t>⑧ 위험 지표 - 3열 그리드</a:t>
            </a:r>
            <a:br/>
            <a:r>
              <a:t>⑨ 자산 배분 (주식/채권/기타 비율 바)</a:t>
            </a:r>
            <a:br/>
            <a:r>
              <a:t>⑩ 기타 정보 (설정일, 설정액, 괴리율, 환매조건)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4114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Arial"/>
              </a:defRPr>
            </a:pPr>
            <a:r>
              <a:t>위험 지표 툴팁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4407408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Arial"/>
              </a:defRPr>
            </a:pPr>
            <a:r>
              <a:t>각 위험 지표(샤프비율, 소르티노비율, 변동성, MDD, 회복기간)</a:t>
            </a:r>
            <a:br/>
            <a:r>
              <a:t>옆에 "?" 아이콘을 배치.</a:t>
            </a:r>
            <a:br/>
            <a:r>
              <a:t>호버 또는 포커스 시 해당 지표의 설명 툴팁이 표시됨.</a:t>
            </a:r>
            <a:br/>
            <a:r>
              <a:t>금융 초보 사용자를 위한 교육적 UX.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544067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Arial"/>
              </a:defRPr>
            </a:pPr>
            <a:r>
              <a:t>색상 규칙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5733288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Arial"/>
              </a:defRPr>
            </a:pPr>
            <a:r>
              <a:t>양수 수익률: 초록색 (#10B981)</a:t>
            </a:r>
            <a:br/>
            <a:r>
              <a:t>음수 수익률: 빨간색 (#EF4444)</a:t>
            </a:r>
            <a:br/>
            <a:r>
              <a:t>MDD: 항상 빨간색</a:t>
            </a:r>
            <a:br/>
            <a:r>
              <a:t>비용(TER, 총보수): + 기호 없이 검정색</a:t>
            </a:r>
            <a:br/>
            <a:r>
              <a:t>변동성: + 기호 없이 검정색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SCREEN 4 — 조회 통계 대시보드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0292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02920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조회 통계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86000"/>
            <a:ext cx="12801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Arial"/>
              </a:defRPr>
            </a:pPr>
            <a:r>
              <a:t>총 조회수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Arial"/>
              </a:defRPr>
            </a:pPr>
            <a:r>
              <a:t>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2286000"/>
            <a:ext cx="12801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3160" y="23317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Arial"/>
              </a:defRPr>
            </a:pPr>
            <a:r>
              <a:t>오늘 조회수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560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Arial"/>
              </a:defRPr>
            </a:pPr>
            <a:r>
              <a:t>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39" y="2286000"/>
            <a:ext cx="12801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79" y="23317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Arial"/>
              </a:defRPr>
            </a:pPr>
            <a:r>
              <a:t>조회 상품 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79" y="2560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Arial"/>
              </a:defRPr>
            </a:pPr>
            <a:r>
              <a:t>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200400"/>
            <a:ext cx="41148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246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2937"/>
                </a:solidFill>
                <a:latin typeface="Arial"/>
              </a:defRPr>
            </a:pPr>
            <a:r>
              <a:t>빈티지별 조회수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3520440"/>
            <a:ext cx="228600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502152"/>
            <a:ext cx="6400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6B7280"/>
                </a:solidFill>
                <a:latin typeface="Arial"/>
              </a:defRPr>
            </a:pPr>
            <a:r>
              <a:t>TDF2030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3685032"/>
            <a:ext cx="194310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666744"/>
            <a:ext cx="6400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6B7280"/>
                </a:solidFill>
                <a:latin typeface="Arial"/>
              </a:defRPr>
            </a:pPr>
            <a:r>
              <a:t>TDF2035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0" y="3849624"/>
            <a:ext cx="160020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831336"/>
            <a:ext cx="6400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6B7280"/>
                </a:solidFill>
                <a:latin typeface="Arial"/>
              </a:defRPr>
            </a:pPr>
            <a:r>
              <a:t>TDF2040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4014216"/>
            <a:ext cx="125730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3995928"/>
            <a:ext cx="6400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6B7280"/>
                </a:solidFill>
                <a:latin typeface="Arial"/>
              </a:defRPr>
            </a:pPr>
            <a:r>
              <a:t>TDF2045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0" y="4178808"/>
            <a:ext cx="91440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160520"/>
            <a:ext cx="6400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6B7280"/>
                </a:solidFill>
                <a:latin typeface="Arial"/>
              </a:defRPr>
            </a:pPr>
            <a:r>
              <a:t>TDF2050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572000"/>
            <a:ext cx="19202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6177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F2937"/>
                </a:solidFill>
                <a:latin typeface="Arial"/>
              </a:defRPr>
            </a:pPr>
            <a:r>
              <a:t>목적별 조회 비율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17520" y="4572000"/>
            <a:ext cx="20116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08960" y="46177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F2937"/>
                </a:solidFill>
                <a:latin typeface="Arial"/>
              </a:defRPr>
            </a:pPr>
            <a:r>
              <a:t>일별 조회 추이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5532120"/>
            <a:ext cx="41148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57784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F2937"/>
                </a:solidFill>
                <a:latin typeface="Arial"/>
              </a:defRPr>
            </a:pPr>
            <a:r>
              <a:t>가장 많이 조회된 상품 TOP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76072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Arial"/>
              </a:defRPr>
            </a:pPr>
            <a:r>
              <a:t>순위 | 상품명 | 조회수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6126480"/>
            <a:ext cx="50292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1463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AF"/>
                </a:solidFill>
                <a:latin typeface="Arial"/>
              </a:defRPr>
            </a:pPr>
            <a:r>
              <a:t>통계 데이터 소스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1719072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Arial"/>
              </a:defRPr>
            </a:pPr>
            <a:r>
              <a:t>사용자 조회 행동을 localStorage 기반으로 추적.</a:t>
            </a:r>
            <a:br/>
            <a:r>
              <a:t>빈티지 선택, 상품 클릭, 용도 필터 사용 시</a:t>
            </a:r>
            <a:br/>
            <a:r>
              <a:t>자동으로 통계 데이터가 누적됩니다.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AF"/>
                </a:solidFill>
                <a:latin typeface="Arial"/>
              </a:defRPr>
            </a:pPr>
            <a:r>
              <a:t>요약 카드 (상단)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2587752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Arial"/>
              </a:defRPr>
            </a:pPr>
            <a:r>
              <a:t>총 조회수 / 오늘 조회수 / 조회 상품 수</a:t>
            </a:r>
            <a:br/>
            <a:r>
              <a:t>3개 KPI를 큰 숫자로 표시.</a:t>
            </a:r>
            <a:br/>
            <a:r>
              <a:t>한눈에 서비스 이용 현황 파악.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3200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AF"/>
                </a:solidFill>
                <a:latin typeface="Arial"/>
              </a:defRPr>
            </a:pPr>
            <a:r>
              <a:t>빈티지별 조회수 차트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3456432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Arial"/>
              </a:defRPr>
            </a:pPr>
            <a:r>
              <a:t>가로 막대 차트로 빈티지별 관심도 비교.</a:t>
            </a:r>
            <a:br/>
            <a:r>
              <a:t>조회수 높은 순으로 정렬.</a:t>
            </a:r>
            <a:br/>
            <a:r>
              <a:t>각 바에 조회수 라벨 표시.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406907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AF"/>
                </a:solidFill>
                <a:latin typeface="Arial"/>
              </a:defRPr>
            </a:pPr>
            <a:r>
              <a:t>목적별 조회 비율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4325112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Arial"/>
              </a:defRPr>
            </a:pPr>
            <a:r>
              <a:t>일반 / 연금저축 / 퇴직연금</a:t>
            </a:r>
            <a:br/>
            <a:r>
              <a:t>어떤 용도의 상품이 가장 인기 있는지 파악.</a:t>
            </a:r>
            <a:br/>
            <a:r>
              <a:t>각 용도별 색상 구분 (파랑/초록/골드).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4937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AF"/>
                </a:solidFill>
                <a:latin typeface="Arial"/>
              </a:defRPr>
            </a:pPr>
            <a:r>
              <a:t>일별 조회 추이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5193792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Arial"/>
              </a:defRPr>
            </a:pPr>
            <a:r>
              <a:t>최근 7일간의 일별 조회수를</a:t>
            </a:r>
            <a:br/>
            <a:r>
              <a:t>가로 막대 차트로 표시.</a:t>
            </a:r>
            <a:br/>
            <a:r>
              <a:t>트래픽 패턴 파악 가능.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5806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AF"/>
                </a:solidFill>
                <a:latin typeface="Arial"/>
              </a:defRPr>
            </a:pPr>
            <a:r>
              <a:t>TOP 10 상품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6062472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Arial"/>
              </a:defRPr>
            </a:pPr>
            <a:r>
              <a:t>가장 많이 조회된 상품 순위.</a:t>
            </a:r>
            <a:br/>
            <a:r>
              <a:t>순위, 상품명, 조회수를 테이블 형태로 표시.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데이터 구조 및 분류 기준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73152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Arial"/>
              </a:defRPr>
            </a:pPr>
            <a:r>
              <a:t>상품 분류 체계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2937"/>
                </a:solidFill>
                <a:latin typeface="Arial"/>
              </a:defRPr>
            </a:pPr>
            <a:r>
              <a:t>빈티지 구분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011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Arial"/>
              </a:defRPr>
            </a:pPr>
            <a:r>
              <a:t>TDF2015 ~ TDF2065 (11개 빈티지)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04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2937"/>
                </a:solidFill>
                <a:latin typeface="Arial"/>
              </a:defRPr>
            </a:pPr>
            <a:r>
              <a:t>상품 유형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304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Arial"/>
              </a:defRPr>
            </a:pPr>
            <a:r>
              <a:t>ETF / 펀드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968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2937"/>
                </a:solidFill>
                <a:latin typeface="Arial"/>
              </a:defRPr>
            </a:pPr>
            <a:r>
              <a:t>용도 분류 기준 (클래스명 기반)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895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Arial"/>
              </a:defRPr>
            </a:pPr>
            <a:r>
              <a:t>  · 연금저축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8895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Arial"/>
              </a:defRPr>
            </a:pPr>
            <a:r>
              <a:t>클래스에 P, Pe, 연금저축 포함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1821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Arial"/>
              </a:defRPr>
            </a:pPr>
            <a:r>
              <a:t>  · 퇴직연금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1821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Arial"/>
              </a:defRPr>
            </a:pPr>
            <a:r>
              <a:t>클래스에 RP, R, Re, 퇴직 포함 (우선 적용)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Arial"/>
              </a:defRPr>
            </a:pPr>
            <a:r>
              <a:t>  · 일반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474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Arial"/>
              </a:defRPr>
            </a:pPr>
            <a:r>
              <a:t>위 조건에 해당하지 않는 경우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673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2937"/>
                </a:solidFill>
                <a:latin typeface="Arial"/>
              </a:defRPr>
            </a:pPr>
            <a:r>
              <a:t>제외 대상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7673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Arial"/>
              </a:defRPr>
            </a:pPr>
            <a:r>
              <a:t>O클래스(디폴트옵션), IBK로우코스트TDF2050 S-R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46304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1463040"/>
            <a:ext cx="73152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600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Arial"/>
              </a:defRPr>
            </a:pPr>
            <a:r>
              <a:t>핵심 지표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057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2937"/>
                </a:solidFill>
                <a:latin typeface="Arial"/>
              </a:defRPr>
            </a:pPr>
            <a:r>
              <a:t>수익률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057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Arial"/>
              </a:defRPr>
            </a:pPr>
            <a:r>
              <a:t>6개월, 1년, 3년, 5년, 설정이후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2937"/>
                </a:solidFill>
                <a:latin typeface="Arial"/>
              </a:defRPr>
            </a:pPr>
            <a:r>
              <a:t>비용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377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Arial"/>
              </a:defRPr>
            </a:pPr>
            <a:r>
              <a:t>총보수(%), 합성총보수 TER(%)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697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2937"/>
                </a:solidFill>
                <a:latin typeface="Arial"/>
              </a:defRPr>
            </a:pPr>
            <a:r>
              <a:t>위험조정수익률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697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Arial"/>
              </a:defRPr>
            </a:pPr>
            <a:r>
              <a:t>샤프비율, 소르티노비율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2937"/>
                </a:solidFill>
                <a:latin typeface="Arial"/>
              </a:defRPr>
            </a:pPr>
            <a:r>
              <a:t>위험 지표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017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Arial"/>
              </a:defRPr>
            </a:pPr>
            <a:r>
              <a:t>변동성(표준편차%), MDD(%), 회복기간(영업일)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337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2937"/>
                </a:solidFill>
                <a:latin typeface="Arial"/>
              </a:defRPr>
            </a:pPr>
            <a:r>
              <a:t>자산 배분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337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Arial"/>
              </a:defRPr>
            </a:pPr>
            <a:r>
              <a:t>주식비중, 채권비중, 기타자산비중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3657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2937"/>
                </a:solidFill>
                <a:latin typeface="Arial"/>
              </a:defRPr>
            </a:pPr>
            <a:r>
              <a:t>기타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657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Arial"/>
              </a:defRPr>
            </a:pPr>
            <a:r>
              <a:t>설정일, 설정액/거래량, 괴리율(ETF), 환매조건(펀드)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023360"/>
            <a:ext cx="110642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4023360"/>
            <a:ext cx="73152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4160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Arial"/>
              </a:defRPr>
            </a:pPr>
            <a:r>
              <a:t>데이터 현황 (O클래스/IBK로우코스트 제외 후)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526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  <a:latin typeface="Arial"/>
              </a:defRPr>
            </a:pPr>
            <a:r>
              <a:t>총 1,519개 상품  |  빈티지 11개  |  일반 762  |  연금저축 464  |  퇴직연금 293  |  BEST 추천 11개 (빈티지당 1개)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반응형 디자인 및 기술 스택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2011680"/>
            <a:ext cx="228600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rial"/>
              </a:defRPr>
            </a:pPr>
            <a:r>
              <a:t>Mobile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Arial"/>
              </a:defRPr>
            </a:pPr>
            <a:r>
              <a:t>&lt; 768px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2011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B5563"/>
                </a:solidFill>
                <a:latin typeface="Arial"/>
              </a:defRPr>
            </a:pPr>
            <a:r>
              <a:t>1열 카드</a:t>
            </a:r>
            <a:br/>
            <a:r>
              <a:t>작은 폰트</a:t>
            </a:r>
            <a:br/>
            <a:r>
              <a:t>터치 최적화</a:t>
            </a:r>
            <a:br/>
            <a:r>
              <a:t>하단시트 모달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645920"/>
            <a:ext cx="3474720" cy="438912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77639" y="2011680"/>
            <a:ext cx="320040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1691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rial"/>
              </a:defRPr>
            </a:pPr>
            <a:r>
              <a:t>Tablet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57607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Arial"/>
              </a:defRPr>
            </a:pPr>
            <a:r>
              <a:t>768px ~ 1024px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28600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B5563"/>
                </a:solidFill>
                <a:latin typeface="Arial"/>
              </a:defRPr>
            </a:pPr>
            <a:r>
              <a:t>2열 카드 그리드</a:t>
            </a:r>
            <a:br/>
            <a:r>
              <a:t>넓은 여백</a:t>
            </a:r>
            <a:br/>
            <a:r>
              <a:t>3열 수익률 그리드</a:t>
            </a:r>
            <a:br/>
            <a:r>
              <a:t>센터 모달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645920"/>
            <a:ext cx="3840480" cy="438912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01000" y="2011680"/>
            <a:ext cx="35661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6916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rial"/>
              </a:defRPr>
            </a:pPr>
            <a:r>
              <a:t>Desktop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57607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Arial"/>
              </a:defRPr>
            </a:pPr>
            <a:r>
              <a:t>&gt; 1024px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28600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B5563"/>
                </a:solidFill>
                <a:latin typeface="Arial"/>
              </a:defRPr>
            </a:pPr>
            <a:r>
              <a:t>3열 카드 그리드</a:t>
            </a:r>
            <a:br/>
            <a:r>
              <a:t>6열 BEST 지표</a:t>
            </a:r>
            <a:br/>
            <a:r>
              <a:t>넓은 컨테이너</a:t>
            </a:r>
            <a:br/>
            <a:r>
              <a:t>센터 모달 640px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B5563"/>
                </a:solidFill>
                <a:latin typeface="Arial"/>
              </a:defRPr>
            </a:pPr>
            <a:r>
              <a:t>기술 스택: HTML5 + CSS3 + Vanilla JavaScript  |  데이터: JSON (Excel 파싱)  |  통계: localStorage  |  서버: Node.js 정적 파일 서버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